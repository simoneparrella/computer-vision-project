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58" dt="2026-10-08T16:07:45.443"/>
    <p1510:client id="{AE413DE2-1008-D027-7527-BC2D3FDD82B7}" v="1178" dt="2026-10-08T21:21:11.706"/>
    <p1510:client id="{B125F62C-15F8-9255-513C-B188D5E687D5}" v="212" dt="2026-10-08T14:11:22.291"/>
    <p1510:client id="{EC19423B-7237-3E24-7DCD-7EDCCB8ECF35}" v="391" dt="2026-10-07T23:10:23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AB793-79A2-4D06-948D-401077801597}" type="datetimeFigureOut">
              <a:t>08/10/2026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BF3AE-D75D-47FC-81C9-C4BF0D46A37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65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 with CORES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Monocular Depth Estimation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FastDepth and METER  ·  NYU Depth V2 → KITTI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Vincenzo Fonseta · Simone Parrella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685800"/>
            <a:ext cx="2834640" cy="2834640"/>
          </a:xfrm>
          <a:prstGeom prst="ellipse">
            <a:avLst/>
          </a:prstGeom>
          <a:solidFill>
            <a:srgbClr val="1F9D8F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20840" y="2011680"/>
            <a:ext cx="2148840" cy="2148840"/>
          </a:xfrm>
          <a:prstGeom prst="ellipse">
            <a:avLst/>
          </a:prstGeom>
          <a:solidFill>
            <a:srgbClr val="EBA137">
              <a:alpha val="8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OOD Detection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92224"/>
            <a:ext cx="2157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training domain, an MDE model produces plausible but unreliable depth maps, without signaling uncertainty.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792224"/>
            <a:ext cx="2157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originally built for classification, uses convolutional kernel responses to build a score that separates ID and OOD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107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93408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1792224"/>
            <a:ext cx="2157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prediction has no logits or classes: the monitored layers, spatial reduction, and decision threshold all need to be adapted.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181F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internal convolutional responses of an MDE network enough to discriminate ID and OOD data? And how does this capability depend on the adaptation choices and the architecture?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NYU Depth V2 and KITTI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68833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NYU Depth V2 (ID)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KITTI Depth Completion (OOD)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Indoor: offices, kitchens, bedrooms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 street scenes, from a moving 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Kinect (RGB + depth)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Velodyne LiDAR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1242×375 (different aspect ratio)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≈ 10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≈ 80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Dense, with validity mask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Sparse: only LiDAR-hit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Training, calibration, ID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 evaluation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81F2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6634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preprocessing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 · depth rescaled (10 m / 80 m) · ImageNet normalization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Distinct Data Splits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DCEE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NYU training 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DCEE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NYU training set: threshold and scoring hyperparameters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DCEE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5604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test set: false-positive evaluation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BEB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0488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BA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KITTI: final evaluation only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never used for gradient updates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with a fixed seed, reproducible across runs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test and KITTI are used only for final evaluation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Models (from the Papers)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FastDepth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for real-time on embedded devices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MobileNet (original V1; pretrained V2 in this project) with depthwise conv.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5 NNConv5 blocks (5×5 depthwise + 1×1 pointwise, nearest upsampling)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skip connections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56048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CNN-transformer for embedded devices (4 GB)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derived from MobileViT: MobileNetV2 blocks + METER block (transformer on patches)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decoder with transposed convolutions and skip connections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XS, XXS variants: 3.29M, 1.45M, 0.71M parameters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Estimation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3931920" cy="2194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AbsRel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relative error |pred − gt| / gt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error, in 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δ₁ δ₂ δ₃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pixels with max(pred/gt, gt/pred) &lt; 1.25 · 1.25² · 1.25³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285292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P(ID score &gt; OOD score); 0.5 = no discrimination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on ID when 95% of OOD is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 / Prec.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Rec. /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calibrated threshold, OOD = positive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ID correctly classified as ID; expected ≈ 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recall and TNR (290 ID vs 1000 OOD)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CORES in a Nutshell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408176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Per-Kernel Extremes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92224"/>
            <a:ext cx="4443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kernel, only the positive max and negative min of the response map are kept.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596896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578608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Metrics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962656"/>
            <a:ext cx="4443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RM⁺/RM⁻ (magnitude beyond the τ thresholds) and RF⁺/RF⁻ (frequency of kernels beyond threshold). The four quantities are combined into the single-layer CORES score.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9624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3995928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977640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Multi-layer Score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361688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score is aggregated along a trajectory of kernels identified via backtracking.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77840" y="1627632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DCEE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Data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0665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peaks, deep troughs, many active kernels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154680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FBEBD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60720" y="3282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Data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35935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responses, few active kernels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the Two Implementations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3×224×224 → output 1×224×224  ·  BerHu, AdamW, OneCycleLR, 40 epochs  ·  10 monitoring points (E0–E4, D1–D5)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62139"/>
              </p:ext>
            </p:extLst>
          </p:nvPr>
        </p:nvGraphicFramePr>
        <p:xfrm>
          <a:off x="457200" y="1463040"/>
          <a:ext cx="8229600" cy="335567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0–2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MobileNetV2, pretrained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3–4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MobileNetV2, pretrained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Inverted-residual + METERBlock, random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 + BN projections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(tap E0–E4)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 128, 256, 512, 1024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 128, 256, 384, 512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6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5 NNConv5: </a:t>
                      </a:r>
                      <a:r>
                        <a:rPr lang="en-US" sz="110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upsample</a:t>
                      </a: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 (</a:t>
                      </a:r>
                      <a:r>
                        <a:rPr lang="en-US" sz="1100" b="0" i="0" u="none" strike="noStrike" noProof="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nearest  neighbor</a:t>
                      </a: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), 5×5 </a:t>
                      </a:r>
                      <a:r>
                        <a:rPr lang="en-US" sz="110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depthwise</a:t>
                      </a: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 and 1x1 pointwise(each with BN and </a:t>
                      </a:r>
                      <a:r>
                        <a:rPr lang="en-US" sz="110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ReL</a:t>
                      </a: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u)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5 blocks: </a:t>
                      </a:r>
                      <a:r>
                        <a:rPr lang="en-US" sz="110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upsample</a:t>
                      </a: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(bilinear interpolation), 3×3 </a:t>
                      </a:r>
                      <a:r>
                        <a:rPr lang="en-US" sz="110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depthwise</a:t>
                      </a: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 and </a:t>
                      </a:r>
                      <a:r>
                        <a:rPr lang="en-US" sz="1100" b="0" i="0" u="none" strike="noStrike" noProof="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1x1 pointwise (each with BN and </a:t>
                      </a:r>
                      <a:r>
                        <a:rPr lang="en-US" sz="1100" b="0" i="0" u="none" strike="noStrike" noProof="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ReLu</a:t>
                      </a:r>
                      <a:r>
                        <a:rPr lang="en-US" sz="1100" b="0" i="0" u="none" strike="noStrike" noProof="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512, 256, 128, 64, 32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384, 256, 128, 64, 32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Sum after pointwise conv's </a:t>
                      </a:r>
                      <a:r>
                        <a:rPr lang="en-US" sz="110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ReLU</a:t>
                      </a:r>
                      <a:endParaRPr lang="en-US" sz="1100" dirty="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Sum before </a:t>
                      </a:r>
                      <a:r>
                        <a:rPr lang="en-US" sz="1100" b="0" i="0" u="none" strike="noStrike" noProof="0" dirty="0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pointwise conv's </a:t>
                      </a:r>
                      <a:r>
                        <a:rPr lang="en-US" sz="1100" dirty="0" err="1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</a:rPr>
                        <a:t>ReLU</a:t>
                      </a:r>
                      <a:endParaRPr lang="en-US" sz="1100" dirty="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 Conv + ReLU (raw tap)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85763" y="479774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Each encoder and decoder stage ends with a BatchNorm which is used as a Tap positioned before a ReLU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Score Is Computed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261872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243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27632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 with hooks on 10 pre-ReLU BatchNorm taps (5 encoder + 5 decoder)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115568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261872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1243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Reduction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627632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and minimum per channel on the H×W 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115568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1072" y="1261872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93408" y="1243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Metrics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1627632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RM⁺, RM⁻, RF⁺, RF⁻ with per-layer τ thresholds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243230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4140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Score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79806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λ₁·(logRM⁺+logRM⁻) + λ₂·(logRF⁺+logRF⁻)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λ₁=2, λ₂=1, ε=1e-4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6432" y="243230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643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58768" y="24140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Averaging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93008" y="279806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per sample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286000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91072" y="2432304"/>
            <a:ext cx="310896" cy="310896"/>
          </a:xfrm>
          <a:prstGeom prst="ellipse">
            <a:avLst/>
          </a:prstGeom>
          <a:solidFill>
            <a:srgbClr val="EBA1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9107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93408" y="24140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279806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5th percentile of ID validation; below threshold = OOD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4173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Scoring Variants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Non-selected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 averaged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D1–D5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Subsets from backtracking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RM⁺ and RF⁺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all 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positive subset (far-region lineage)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RM⁻ and RF⁻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all 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negative subset (near-region lineage)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equation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Eq.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Eq. 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Backtracking Without Classes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78606" y="96297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-1427" y="775367"/>
            <a:ext cx="4802027" cy="1562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endParaRPr lang="en-US" sz="1250" dirty="0">
              <a:solidFill>
                <a:srgbClr val="3A455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Pick the farthest 10% and nearest 10% of pixels of the raw output (analogues of </a:t>
            </a:r>
            <a:r>
              <a:rPr lang="en-US" sz="125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c_max</a:t>
            </a: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125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c_min</a:t>
            </a: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Contribution defined by D5 channels activations weighted by the final 1×1 conv</a:t>
            </a:r>
            <a:r>
              <a:rPr lang="en-US" sz="13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→ pick </a:t>
            </a: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top 20% of best </a:t>
            </a:r>
            <a:r>
              <a:rPr lang="en-US" sz="125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contibutors</a:t>
            </a: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per region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5725" y="264318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Climbing from D5 to D1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725" y="3246882"/>
            <a:ext cx="4023360" cy="1358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  <a:spcAft>
                <a:spcPts val="1000"/>
              </a:spcAft>
              <a:buSzPct val="100000"/>
            </a:pPr>
            <a:endParaRPr lang="en-US" sz="1250" dirty="0">
              <a:solidFill>
                <a:srgbClr val="3A455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Take the pointwise 1×1 weight matrix connecting each current layer channels to </a:t>
            </a:r>
            <a:r>
              <a:rPr lang="en-US" sz="125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previous layer</a:t>
            </a: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channels </a:t>
            </a:r>
            <a:r>
              <a:rPr lang="en-US" sz="125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(up5, up4, up3, up2) .Extract the rows </a:t>
            </a:r>
            <a:r>
              <a:rPr lang="en-US" sz="125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the already-selected channels.</a:t>
            </a:r>
            <a:endParaRPr lang="en-US" sz="12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Sum the weights across each column to determine </a:t>
            </a:r>
            <a:r>
              <a:rPr lang="en-US" sz="1250">
                <a:solidFill>
                  <a:srgbClr val="3A4552"/>
                </a:solidFill>
                <a:ea typeface="+mn-lt"/>
                <a:cs typeface="+mn-lt"/>
              </a:rPr>
              <a:t>influence value per channel of the previous layer.</a:t>
            </a:r>
            <a:endParaRPr lang="en-US" sz="1250">
              <a:solidFill>
                <a:srgbClr val="3A455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Pick 20% the channels with highest sum </a:t>
            </a:r>
            <a:r>
              <a:rPr lang="en-US" sz="1250" dirty="0">
                <a:solidFill>
                  <a:srgbClr val="3A4552"/>
                </a:solidFill>
                <a:ea typeface="+mn-lt"/>
                <a:cs typeface="+mn-lt"/>
              </a:rPr>
              <a:t>(</a:t>
            </a:r>
            <a:r>
              <a:rPr lang="en-US" sz="1250" dirty="0" err="1">
                <a:solidFill>
                  <a:srgbClr val="3A4552"/>
                </a:solidFill>
                <a:ea typeface="+mn-lt"/>
                <a:cs typeface="+mn-lt"/>
              </a:rPr>
              <a:t>TopK</a:t>
            </a:r>
            <a:r>
              <a:rPr lang="en-US" sz="1250" dirty="0">
                <a:solidFill>
                  <a:srgbClr val="3A4552"/>
                </a:solidFill>
                <a:ea typeface="+mn-lt"/>
                <a:cs typeface="+mn-lt"/>
              </a:rPr>
              <a:t>) and the channels with the lowest sum (</a:t>
            </a:r>
            <a:r>
              <a:rPr lang="en-US" sz="1250" dirty="0" err="1">
                <a:solidFill>
                  <a:srgbClr val="3A4552"/>
                </a:solidFill>
                <a:ea typeface="+mn-lt"/>
                <a:cs typeface="+mn-lt"/>
              </a:rPr>
              <a:t>BotK</a:t>
            </a:r>
            <a:r>
              <a:rPr lang="en-US" sz="1250" dirty="0">
                <a:solidFill>
                  <a:srgbClr val="3A4552"/>
                </a:solidFill>
                <a:ea typeface="+mn-lt"/>
                <a:cs typeface="+mn-lt"/>
              </a:rPr>
              <a:t>).</a:t>
            </a:r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0916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Kept at Each Step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36192"/>
          <a:ext cx="3977640" cy="20269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1×1 conv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D5→D4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of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of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D4→D3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of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of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D3→D2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of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of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D2→D1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of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of 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4E8E355-EA28-8A76-1DBD-7D06A20C58E4}"/>
              </a:ext>
            </a:extLst>
          </p:cNvPr>
          <p:cNvSpPr txBox="1"/>
          <p:nvPr/>
        </p:nvSpPr>
        <p:spPr>
          <a:xfrm>
            <a:off x="4570573" y="3199257"/>
            <a:ext cx="4581047" cy="1455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endParaRPr lang="en-US" sz="1300" dirty="0">
              <a:solidFill>
                <a:srgbClr val="3A455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Stops at the decoder: skip connections are unweighted sums and the encoder is unreachable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8000"/>
              </a:lnSpc>
              <a:spcAft>
                <a:spcPts val="1000"/>
              </a:spcAft>
              <a:buSzPct val="100000"/>
            </a:pPr>
            <a:endParaRPr lang="en-US" sz="1250" dirty="0">
              <a:solidFill>
                <a:srgbClr val="3A455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and Solutions (1/2)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50681"/>
              </p:ext>
            </p:extLst>
          </p:nvPr>
        </p:nvGraphicFramePr>
        <p:xfrm>
          <a:off x="457200" y="1234440"/>
          <a:ext cx="8229600" cy="3566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Limitation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classes or 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c_max and c_min become the farthest and nearest depth regions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“Far/near” is not equivalent to “predicted class”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only (D5 → D1)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connections are unweighted sums: the encoder is unreachable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Pre-ReLU taps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BatchNorm before ReLU to preserve RM⁻ and RF⁻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stages have no clean tap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taps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1×1 + BN projections, randomly initialized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Taps sit on a thin adapter, not on the backbone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and Solutions (2/2)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95613"/>
              </p:ext>
            </p:extLst>
          </p:nvPr>
        </p:nvGraphicFramePr>
        <p:xfrm>
          <a:off x="457200" y="1234440"/>
          <a:ext cx="8229600" cy="3566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Limitation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in 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Taps read the projections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responses are never evaluated directly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Log-space, λ₁=2 (vs. 10 in the paper)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Departs from the original 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Per-layer τ on noise, threshold at 5th percentile of ID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selected score reuses the non-selected 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and minimum per channel on the H×W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a single pixel extreme: τ needs recalibrating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Differences from the Papers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566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FastDepth (paper → project)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(paper → project)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 V1 → pretrained MobileNetV2, 320→1280 conv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MobileViT from scratch → 3 MobileNetV2 stages pretrained + 2 random METERBlocks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blocks → only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NNConv5 → NNConv5 with added projections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blocks with transposed conv → 5 blocks with bilinear upsample + depthwise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&amp;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→ BerHu, AdamW, OneCycleLR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loss + shifting augmentation → BerHu, OneCycleLR, no augmentation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&amp;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3.29M, XS 1.45M, 256×192 → ≈2.5M, 224×224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Quality and Calibration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9995" y="1011728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474587" y="1158032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4587" y="115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6923" y="113974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Quality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7616" y="1468992"/>
            <a:ext cx="4124568" cy="27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test only (NYU): verifies the model is a good estimator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AbsRel, RMSE, δ₁–δ₃ on pixels with valid depth (gt &gt; 0.001)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 per batch, then averaged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493" y="1011727"/>
            <a:ext cx="4122420" cy="4051415"/>
          </a:xfrm>
          <a:prstGeom prst="roundRect">
            <a:avLst>
              <a:gd name="adj" fmla="val 2254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4449" y="1106077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4449" y="11060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66785" y="1087789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Calibrating the τ Thresholds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67895" y="1438707"/>
            <a:ext cx="3934677" cy="370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Data: </a:t>
            </a:r>
            <a:r>
              <a:rPr lang="en-US" sz="120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id_val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+ synthetic noise only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Id_val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is passed through the model, for each channel of each layer the max and min value is kept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Six percentile level candidates (50th–90th) </a:t>
            </a:r>
            <a:endParaRPr lang="en-US" sz="1200" dirty="0">
              <a:solidFill>
                <a:srgbClr val="3A455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For each layer and for each level , the thresholds τ₊/τ₋ are  computed using the max/min distributions</a:t>
            </a:r>
            <a:endParaRPr lang="en-US" sz="1200">
              <a:solidFill>
                <a:srgbClr val="3A4552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Scores on </a:t>
            </a:r>
            <a:r>
              <a:rPr lang="en-US" sz="120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id_val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and on 128 Gaussian-noise + 128 uniform-noise images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Impose separate threshold :5th</a:t>
            </a:r>
            <a:r>
              <a:rPr lang="en-US" sz="1200" dirty="0">
                <a:solidFill>
                  <a:srgbClr val="3A4552"/>
                </a:solidFill>
                <a:ea typeface="+mn-lt"/>
                <a:cs typeface="+mn-lt"/>
              </a:rPr>
              <a:t> percentile of </a:t>
            </a:r>
            <a:r>
              <a:rPr lang="en-US" sz="1200" dirty="0" err="1">
                <a:solidFill>
                  <a:srgbClr val="3A4552"/>
                </a:solidFill>
                <a:ea typeface="+mn-lt"/>
                <a:cs typeface="+mn-lt"/>
              </a:rPr>
              <a:t>id_val</a:t>
            </a:r>
            <a:r>
              <a:rPr lang="en-US" sz="1200" dirty="0">
                <a:solidFill>
                  <a:srgbClr val="3A4552"/>
                </a:solidFill>
                <a:ea typeface="+mn-lt"/>
                <a:cs typeface="+mn-lt"/>
              </a:rPr>
              <a:t> scores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. Noise images scoring above it are false positives</a:t>
            </a:r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with fewest false positives on noise is chosen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Detection: Protocol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Disjoint Sets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402336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the decision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id_test (NYU)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behavior on ID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ood_test (KITTI)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behavior on OOD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04361" y="1513333"/>
            <a:ext cx="4636610" cy="2570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8000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Compute score. Higher score = more similar to ID data</a:t>
            </a:r>
            <a:endParaRPr lang="en-US" sz="1150">
              <a:latin typeface="Calibri"/>
              <a:ea typeface="Calibri"/>
              <a:cs typeface="Calibri"/>
            </a:endParaRPr>
          </a:p>
          <a:p>
            <a:pPr marL="171450" indent="-1714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 b="1" u="sng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Threshold-independent valuation </a:t>
            </a:r>
            <a:r>
              <a:rPr lang="en-US" sz="115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:    </a:t>
            </a:r>
            <a:endParaRPr lang="en-US" sz="11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15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    Compare score on ID test vs KITTI. </a:t>
            </a:r>
            <a:endParaRPr lang="en-US" sz="11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    </a:t>
            </a:r>
            <a:r>
              <a:rPr lang="en-US" sz="115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Metrics:AUROC</a:t>
            </a:r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and FPR95</a:t>
            </a:r>
          </a:p>
          <a:p>
            <a:pPr marL="171450" indent="-171450">
              <a:buFont typeface="Arial"/>
              <a:buChar char="•"/>
            </a:pPr>
            <a:r>
              <a:rPr lang="en-US" sz="1200" b="1" u="sng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Threshold based evaluation</a:t>
            </a:r>
            <a:r>
              <a:rPr lang="en-US" sz="120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   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    Use 5th percentile of </a:t>
            </a:r>
            <a:r>
              <a:rPr lang="en-US" sz="115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id_val</a:t>
            </a:r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on tests so that  about 95% of ID is accepted.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150" dirty="0">
              <a:solidFill>
                <a:srgbClr val="3A4552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    </a:t>
            </a:r>
            <a:r>
              <a:rPr lang="en-US" sz="115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Metrics:Accuracy,Precision</a:t>
            </a:r>
            <a:r>
              <a:rPr lang="en-US" sz="115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,Recall ,F1 ,TNR ,Balanced accuracy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6E4F1DF-DBBC-F937-BCBB-3E45671BA301}"/>
              </a:ext>
            </a:extLst>
          </p:cNvPr>
          <p:cNvSpPr txBox="1"/>
          <p:nvPr/>
        </p:nvSpPr>
        <p:spPr>
          <a:xfrm>
            <a:off x="385763" y="479774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The</a:t>
            </a:r>
            <a:r>
              <a:rPr lang="en-US" sz="1050" i="1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procedure is done both for selected and non-selected layers</a:t>
            </a:r>
            <a:endParaRPr lang="en-US" sz="1050" i="1" dirty="0">
              <a:solidFill>
                <a:srgbClr val="3A4552"/>
              </a:solidFill>
              <a:ea typeface="Calibri"/>
              <a:cs typeface="Calibri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C2F46E9-388F-C543-D44D-70080660D2A2}"/>
              </a:ext>
            </a:extLst>
          </p:cNvPr>
          <p:cNvSpPr txBox="1"/>
          <p:nvPr/>
        </p:nvSpPr>
        <p:spPr>
          <a:xfrm>
            <a:off x="206368" y="3846304"/>
            <a:ext cx="8738883" cy="99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200" b="1" u="sng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Threshold-independent valuation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defines how good </a:t>
            </a:r>
            <a:r>
              <a:rPr lang="en-US" sz="120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th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e score </a:t>
            </a:r>
            <a:r>
              <a:rPr lang="en-US" sz="1200" dirty="0" err="1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separtes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 the ID from the OOD,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1200" b="1" u="sng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Threshold based evaluation</a:t>
            </a:r>
            <a:r>
              <a:rPr lang="en-US" sz="1200" dirty="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defines how good the score is at detecting OOD at a specifi</a:t>
            </a:r>
            <a:r>
              <a:rPr lang="en-US" sz="120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c point</a:t>
            </a:r>
            <a:endParaRPr lang="en-US" sz="1200" dirty="0">
              <a:solidFill>
                <a:srgbClr val="3A4552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1150">
                <a:solidFill>
                  <a:srgbClr val="3A4552"/>
                </a:solidFill>
                <a:latin typeface="Calibri"/>
                <a:ea typeface="Calibri"/>
                <a:cs typeface="Calibri"/>
              </a:rPr>
              <a:t>   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ABLATION &amp; CHECKS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31940" y="34634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Experiments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selection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hook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ID + OOD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068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score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8660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and FPR95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Subsets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layer individually (10 runs)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layers are most discriminative?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only, decoder only, both (3 runs)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or decoder: where is the information?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E0, then E0–E1, … up to all 10 layers (10 runs)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performance change with depth?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run, all 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(RM⁺, RM⁻, RF⁺, RF⁻) separates best?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components is diagnostic: it does not compute AUROC, but records the mean RM⁺, RM⁻, RF⁺, RF⁻ values for ID and OOD.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6207614-8AE7-CC04-27EB-F97B05E62A4C}"/>
              </a:ext>
            </a:extLst>
          </p:cNvPr>
          <p:cNvSpPr txBox="1"/>
          <p:nvPr/>
        </p:nvSpPr>
        <p:spPr>
          <a:xfrm>
            <a:off x="503859" y="89780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0D1B2A"/>
                </a:solidFill>
                <a:latin typeface="Cambria"/>
                <a:ea typeface="Cambria"/>
              </a:rPr>
              <a:t>Shared</a:t>
            </a:r>
            <a:r>
              <a:rPr lang="en-US" sz="1500" b="1" dirty="0">
                <a:solidFill>
                  <a:srgbClr val="0D1B2A"/>
                </a:solidFill>
                <a:latin typeface="Cambria"/>
                <a:ea typeface="Cambria"/>
              </a:rPr>
              <a:t> routine</a:t>
            </a:r>
            <a:endParaRPr lang="it-IT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During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FastDepth (MobileNetV2 + NNConv5)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27448" y="11887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27448" y="11887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(MobileViT / Transformer + Conv Decoder)</a:t>
            </a:r>
            <a:endParaRPr lang="en-US" sz="1200" dirty="0"/>
          </a:p>
        </p:txBody>
      </p:sp>
      <p:pic>
        <p:nvPicPr>
          <p:cNvPr id="8" name="Image 0" descr="chart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3959352" cy="1828800"/>
          </a:xfrm>
          <a:prstGeom prst="rect">
            <a:avLst/>
          </a:prstGeom>
        </p:spPr>
      </p:pic>
      <p:pic>
        <p:nvPicPr>
          <p:cNvPr id="9" name="Image 1" descr="chart-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627632"/>
            <a:ext cx="3959352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81F2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639312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behavior on NYU Depth V2 (40 epochs, BerHu loss, OneCycleLR):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Fast, stable convergence: both models reach a plateau within the first 15–20 epochs, settling at a final loss of ~0.218 (FastDepth) and ~0.259 (METER).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BerHu stability: combining L1 for small errors with adaptive L2 for large errors avoids gradient oscillations and produces well-calibrated dense predictions.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Detection: FastDepth vs METER</a:t>
            </a:r>
            <a:endParaRPr lang="en-US" sz="2800" dirty="0"/>
          </a:p>
        </p:txBody>
      </p:sp>
      <p:pic>
        <p:nvPicPr>
          <p:cNvPr id="4" name="Image 0" descr="chart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959352" cy="2212848"/>
          </a:xfrm>
          <a:prstGeom prst="rect">
            <a:avLst/>
          </a:prstGeom>
        </p:spPr>
      </p:pic>
      <p:pic>
        <p:nvPicPr>
          <p:cNvPr id="5" name="Image 1" descr="chart-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051560"/>
            <a:ext cx="3959352" cy="22128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01568"/>
            <a:ext cx="8229600" cy="1481328"/>
          </a:xfrm>
          <a:prstGeom prst="roundRect">
            <a:avLst>
              <a:gd name="adj" fmla="val 3704"/>
            </a:avLst>
          </a:prstGeom>
          <a:solidFill>
            <a:srgbClr val="181F29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3538728"/>
            <a:ext cx="7680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493008"/>
            <a:ext cx="7772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ID: NYU Depth V2 (290 test) vs OOD: KITTI Depth Completion (1000 test)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FastDepth: AUROC = 0.959 · FPR95 = 10.3% · Calibrated threshold (TNR95 val) = −5.35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METER: AUROC = 0.995 · FPR95 = 2.1% · Calibrated threshold (TNR95 val) = −6.75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bimodal separation in both models. The hybrid CNN-transformer METER cuts FPR95 to a fifth compared to FastDepth, achieving near-perfect OOD discrimination (AUROC 0.995).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Per-Layer Profile and U-Shaped Trend</a:t>
            </a:r>
            <a:endParaRPr lang="en-US" sz="2800" dirty="0"/>
          </a:p>
        </p:txBody>
      </p:sp>
      <p:pic>
        <p:nvPicPr>
          <p:cNvPr id="4" name="Image 0" descr="chart-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3959352" cy="1984248"/>
          </a:xfrm>
          <a:prstGeom prst="rect">
            <a:avLst/>
          </a:prstGeom>
        </p:spPr>
      </p:pic>
      <p:pic>
        <p:nvPicPr>
          <p:cNvPr id="5" name="Image 1" descr="chart-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143000"/>
            <a:ext cx="3959352" cy="19842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246120"/>
            <a:ext cx="8229600" cy="1783080"/>
          </a:xfrm>
          <a:prstGeom prst="roundRect">
            <a:avLst>
              <a:gd name="adj" fmla="val 3077"/>
            </a:avLst>
          </a:prstGeom>
          <a:solidFill>
            <a:srgbClr val="EEF3F7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333756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AUROC analysis (Blue = Encoder E0–E4, Orange = Decoder D1–D5):
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U-shaped trend: strong discrimination in the early layers (E0–E2, AUROC &gt; 0.87–0.99) tied to low-level visual features (Kinect vs outdoor LiDAR sensor statistics).
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Bottleneck (E4): in FastDepth, AUROC collapses to 0.510 (chance level), while in METER the transformer blocks preserve a solid 0.757 thanks to global attention across patches.
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 in the Decoder (D1–D5): discriminative power grows monotonically as the depth map is reconstructed, reaching 0.974 in FastDepth and 100% (1.000) in METER on D5.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Layer Groups and CORES Components</a:t>
            </a:r>
            <a:endParaRPr lang="en-US" sz="2800" dirty="0"/>
          </a:p>
        </p:txBody>
      </p:sp>
      <p:pic>
        <p:nvPicPr>
          <p:cNvPr id="4" name="Image 0" descr="chart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023360" cy="1527048"/>
          </a:xfrm>
          <a:prstGeom prst="rect">
            <a:avLst/>
          </a:prstGeom>
        </p:spPr>
      </p:pic>
      <p:pic>
        <p:nvPicPr>
          <p:cNvPr id="5" name="Image 1" descr="chart-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43000"/>
            <a:ext cx="4023360" cy="15270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8346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EF3F7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58368" y="296265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Decoder-Only Beats All Layers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346704"/>
            <a:ext cx="36210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METER: Decoder-only reaches AUROC 0.9908 and FPR95 3.79%, surpassing the Encoder+Decoder combination (AUROC 0.9773, FPR95 7.93%).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trend in FastDepth: Decoder-only (0.9525, FPR 9.3%) beats All (0.9430, FPR 16.5%). The encoder's deep layers “pollute” the averaged score.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63440" y="28346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EF3F7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64608" y="296265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RF+ Saturation and RM+ Dominance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864608" y="3346704"/>
            <a:ext cx="36210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RF+ saturation: activation frequency (RF+) is 1.0 for both ID and OOD across all monitored layers; it offers no discriminative power.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driven by RM+: the entire OOD score is carried by magnitude (RM+), which in the decoder's final layers registers much stronger ID responses (7.3 vs 4.7 on D4).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FINAL RESULTS &amp; CONCLUSIONS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Effectiveness of CORES on Dense Prediction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476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convolutional responses are sufficient to discriminate ID and OOD data even without logits or classes (AUROC &gt; 0.95 in both models), confirming the initial research hypothesis.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8348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CNN vs. Hybrid Transformer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9476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outperforms FastDepth on every metric (AUROC 0.995 vs 0.959, FPR95 2.1% vs 10.3%). The transformer blocks prevent the specificity collapse at the bottleneck (0.757 vs 0.510).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319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Optimization: Monitor the Decoder Only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679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monitoring to the decoder improves discrimination (removes false alarms from intermediate layers) and halves the number of taps and the compute overhead — ideal for embedded/real-time deployment.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15468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3319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Future Work and Open Limitations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8679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backtracking through the additive skip connections to involve the encoder, and investigate transformer attention as a natural channel selector for the OOD score.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Presentazione su schermo (16:9)</PresentationFormat>
  <Paragraphs>0</Paragraphs>
  <Slides>21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2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633</cp:revision>
  <dcterms:created xsi:type="dcterms:W3CDTF">2026-10-04T11:18:55Z</dcterms:created>
  <dcterms:modified xsi:type="dcterms:W3CDTF">2026-10-08T21:21:30Z</dcterms:modified>
</cp:coreProperties>
</file>