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 with CORES</a:t>
            </a:r>
            <a:endParaRPr lang="en-US" sz="3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Monocular Depth Estimation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FastDepth and METER  ·  NYU Depth V2 → KITTI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Vincenzo Fonseta · Simone Parrella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685800"/>
            <a:ext cx="2834640" cy="2834640"/>
          </a:xfrm>
          <a:prstGeom prst="ellipse">
            <a:avLst/>
          </a:prstGeom>
          <a:solidFill>
            <a:srgbClr val="1F9D8F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20840" y="2011680"/>
            <a:ext cx="2148840" cy="2148840"/>
          </a:xfrm>
          <a:prstGeom prst="ellipse">
            <a:avLst/>
          </a:prstGeom>
          <a:solidFill>
            <a:srgbClr val="EBA137">
              <a:alpha val="85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52160" y="1143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OOD Detection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92224"/>
            <a:ext cx="2157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training domain, an MDE model produces plausible but unreliable depth maps, without signaling uncertainty.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792224"/>
            <a:ext cx="2157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originally built for classification, uses convolutional kernel responses to build a score that separates ID and OOD data.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107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93408" y="140817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1792224"/>
            <a:ext cx="215798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prediction has no logits or classes: the monitored layers, spatial reduction, and decision threshold all need to be adapted.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5217"/>
            </a:avLst>
          </a:prstGeom>
          <a:solidFill>
            <a:srgbClr val="181F2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4747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internal convolutional responses of an MDE network enough to discriminate ID and OOD data? And how does this capability depend on the adaptation choices and the architecture?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NYU Depth V2 and KITTI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NYU Depth V2 (ID)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KITTI Depth Completion (OOD)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Indoor: offices, kitchens, bedrooms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 street scenes, from a moving car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Kinect (RGB + depth)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Velodyne LiDAR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1242×375 (different aspect ratio)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≈ 10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≈ 80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Dense, with validity mask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Sparse: only LiDAR-hit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Training, calibration, ID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 evaluation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81F2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46634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preprocessing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 · depth rescaled (10 m / 80 m) · ImageNet normalization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Distinct Data Splits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DCEE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NYU training 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DCEEE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0720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NYU training set: threshold and scoring hyperparameters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DCEE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5604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95604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test set: false-positive evaluation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BEB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04888" y="1444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BA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1874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104888" y="2286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KITTI: final evaluation only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never used for gradient updates</a:t>
            </a:r>
            <a:endParaRPr lang="en-US" sz="1250" dirty="0"/>
          </a:p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 with a fixed seed, reproducible across runs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test and KITTI are used only for final evaluation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Models (from the Papers)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FastDepth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CNN for real-time on embedded devices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Encoder: MobileNet (original V1; pretrained V2 in this project) with depthwise conv.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5 NNConv5 blocks (5×5 depthwise + 1×1 pointwise, nearest upsampling)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skip connections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56048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956048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F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CNN-transformer for embedded devices (4 GB)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derived from MobileViT: MobileNetV2 blocks + METER block (transformer on patches)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decoder with transposed convolutions and skip connections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 XS, XXS variants: 3.29M, 1.45M, 0.71M parameters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EXPERIMENTAL SETUP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Estimation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AbsRel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relative error |pred − gt| / gt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error, in 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δ₁ δ₂ δ₃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pixels with max(pred/gt, gt/pred) &lt; 1.25 · 1.25² · 1.25³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75488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08760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743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Measures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P(ID score &gt; OOD score); 0.5 = no discrimination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FPR95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 on ID when 95% of OOD is 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 / Prec.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Rec. / 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the calibrated threshold, OOD = positive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ID correctly classified as ID; expected ≈ 0.95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Acc.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of recall and TNR (290 ID vs 1000 OOD)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CORES in a Nutshell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408176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Per-Kernel Extremes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92224"/>
            <a:ext cx="44439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kernel, only the positive max and negative min of the response map are kept.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2596896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1792" y="259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2578608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Metrics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2962656"/>
            <a:ext cx="44439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RM⁺/RM⁻ (magnitude beyond the τ thresholds) and RF⁺/RF⁻ (frequency of kernels beyond threshold). The four quantities are combined into the single-layer CORES score.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9624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3995928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977640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Multi-layer Score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361688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score is aggregated along a trajectory of kernels identified via backtracking.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77840" y="1627632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DCEE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17556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Data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0665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peaks, deep troughs, many active kernels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154680"/>
            <a:ext cx="3108960" cy="1371600"/>
          </a:xfrm>
          <a:prstGeom prst="roundRect">
            <a:avLst>
              <a:gd name="adj" fmla="val 4667"/>
            </a:avLst>
          </a:prstGeom>
          <a:solidFill>
            <a:srgbClr val="FBEBD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60720" y="3282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79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Data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0" y="359359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responses, few active kernels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of the Two Implementations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3×224×224 → output 1×224×224  ·  BerHu, AdamW, OneCycleLR, 40 epochs  ·  10 monitoring points (E0–E4, D1–D5)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46120"/>
                <a:gridCol w="3246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0–2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MobileNetV2, pretrained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3–4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MobileNetV2, pretrained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Inverted-residual + METERBlock, random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 + BN projections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(tap E0–E4)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 128, 256, 512, 1024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 128, 256, 384, 512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NNConv5: nearest upsample, 5×5 depthwise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blocks: bilinear upsample, 3×3 depthwise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512, 256, 128, 64, 32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384, 256, 128, 64, 32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after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before ReLU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1×1 Conv + ReLU (raw tap)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are BatchNorm before ReLU: in the encoder, those of the projections; in the decoder, those of each block's pointwise.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Score Is Computed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261872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243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627632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 with hooks on 10 pre-ReLU BatchNorm taps (5 encoder + 5 decoder)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115568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1261872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6432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58768" y="1243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Reduction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1627632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and minimum per channel on the H×W 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115568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1072" y="1261872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91072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93408" y="124358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Metrics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27648" y="1627632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RM⁺, RM⁻, RF⁺, RF⁻ with per-layer τ thresholds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286000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243230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4140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Score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79806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λ₁·(logRM⁺+logRM⁻) + λ₂·(logRF⁺+logRF⁻)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λ₁=2, λ₂=1, ε=1e-4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286000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25" name="Shape 23"/>
          <p:cNvSpPr/>
          <p:nvPr/>
        </p:nvSpPr>
        <p:spPr>
          <a:xfrm>
            <a:off x="3456432" y="243230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643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58768" y="24140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Averaging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493008" y="279806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score per sample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286000"/>
            <a:ext cx="2560320" cy="1078992"/>
          </a:xfrm>
          <a:prstGeom prst="roundRect">
            <a:avLst>
              <a:gd name="adj" fmla="val 6780"/>
            </a:avLst>
          </a:prstGeom>
          <a:solidFill>
            <a:srgbClr val="EEF3F7"/>
          </a:solidFill>
          <a:ln/>
        </p:spPr>
      </p:sp>
      <p:sp>
        <p:nvSpPr>
          <p:cNvPr id="30" name="Shape 28"/>
          <p:cNvSpPr/>
          <p:nvPr/>
        </p:nvSpPr>
        <p:spPr>
          <a:xfrm>
            <a:off x="6291072" y="2432304"/>
            <a:ext cx="310896" cy="310896"/>
          </a:xfrm>
          <a:prstGeom prst="ellipse">
            <a:avLst/>
          </a:prstGeom>
          <a:solidFill>
            <a:srgbClr val="EBA13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91072" y="2432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93408" y="241401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327648" y="2798064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5th percentile of ID validation; below threshold = OOD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4480560"/>
              </a:tblGrid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Scoring Variants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Non-selected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 averaged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D1–D5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Subsets from backtracking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RM⁺ and RF⁺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all 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positive subset (far-region lineage)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RM⁻ and RF⁻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all channels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on negative subset (near-region lineage)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1783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equation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Eq.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Eq. 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Backtracking Without Classes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36192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Farthest 10% and nearest 10% of pixels of the raw output (analogues of c_max and c_min)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channels weighted by the final 1×1 conv: top 20% per side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Climbing from D5 to D1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4495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 for FastDepth and METER: sum of pointwise 1×1 weights (up5, up4, up3, up2) of the already-selected channels → TopK (positive) and BotK (negative), 20% of the previous layer</a:t>
            </a:r>
            <a:endParaRPr lang="en-US" sz="12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2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decoder: skip connections are unweighted sums and the encoder is unreachable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Kept at Each Step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536192"/>
          <a:ext cx="3977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77240"/>
                <a:gridCol w="1143000"/>
                <a:gridCol w="777240"/>
                <a:gridCol w="7315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Weights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1×1 conv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D5→D4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of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of 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D4→D3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of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of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D3→D2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of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of 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D2→D1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pointwise up2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of 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of 384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and Solutions (1/2)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1089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classes or 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c_max and c_min become the farthest and nearest depth regions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“Far/near” is not equivalent to “predicted class”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only (D5 → D1)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connections are unweighted sums: the encoder is unreachable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Pre-ReLU taps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BatchNorm before ReLU to preserve RM⁻ and RF⁻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stages have no clean tap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taps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1×1 + BN projections, randomly initialized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Taps sit on a thin adapter, not on the backbone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and Solutions (2/2)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31089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in 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Taps read the projections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responses are never evaluated directly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Log-space, λ₁=2 (vs. 10 in the paper)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Departs from the original 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Per-layer τ on noise, threshold at 5th percentile of ID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selected score reuses the non-selected 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and minimum per channel on the H×W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a single pixel extreme: τ needs recalibrating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Differences from the Papers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337560"/>
                <a:gridCol w="33375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FastDepth (paper → project)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(paper → project)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 V1 → pretrained MobileNetV2, 320→1280 conv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MobileViT from scratch → 3 MobileNetV2 stages pretrained + 2 random METERBlocks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blocks → only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NNConv5 → NNConv5 with added projections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blocks with transposed conv → 5 blocks with bilinear upsample + depthwise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&amp;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→ BerHu, AdamW, OneCycleLR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loss + shifting augmentation → BerHu, OneCycleLR, no augmentation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&amp;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3.29M, XS 1.45M, 256×192 → ≈2.5M, 224×224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Quality and Calibration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4081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Quality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92224"/>
            <a:ext cx="352958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test only (NYU): verifies the model is a good estimator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AbsRel, RMSE, δ₁–δ₃ on pixels with valid depth (gt &gt; 0.001)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computed per batch, then averaged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4919472" y="1426464"/>
            <a:ext cx="310896" cy="310896"/>
          </a:xfrm>
          <a:prstGeom prst="ellipse">
            <a:avLst/>
          </a:prstGeom>
          <a:solidFill>
            <a:srgbClr val="1F9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919472" y="1426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140817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Calibrating the τ Thresholds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56048" y="1792224"/>
            <a:ext cx="352958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id_val + synthetic noise only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percentile candidates (50th–90th) for τ+ and τ−, per layer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on id_val and on 128 Gaussian-noise + 128 uniform-noise images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with fewest false positives on noise is chosen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Detection: Protocol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Disjoint Sets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Determines the decision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id_test (NYU)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behavior on ID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ood_test (KITTI)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behavior on OOD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536192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more similar to ID data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and FPR95: threshold-independent (ID test vs KITTI)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5th percentile of id_val: accepts about 95% of ID</a:t>
            </a:r>
            <a:endParaRPr lang="en-US" sz="1150" dirty="0"/>
          </a:p>
          <a:p>
            <a:pPr marL="342900" indent="-342900">
              <a:lnSpc>
                <a:spcPct val="118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applied once to the test sets: accuracy, precision, recall, F1, confusion matrix</a:t>
            </a:r>
            <a:endParaRPr lang="en-US" sz="115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1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TNR ≈ 0.95: a very different value indicates mismatched validation and test distributions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ABLATION &amp; CHECKS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Experiments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selection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hook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ID + OOD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9496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068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score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1207008"/>
            <a:ext cx="1572768" cy="502920"/>
          </a:xfrm>
          <a:prstGeom prst="roundRect">
            <a:avLst>
              <a:gd name="adj" fmla="val 49091"/>
            </a:avLst>
          </a:prstGeom>
          <a:solidFill>
            <a:srgbClr val="181F2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86600" y="1207008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and FPR95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474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Subsets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F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layer individually (10 runs)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layers are most discriminative?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only, decoder only, both (3 runs)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or decoder: where is the information?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E0, then E0–E1, … up to all 10 layers (10 runs)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performance change with depth?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run, all layers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(RM⁺, RM⁻, RF⁺, RF⁻) separates best?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components is diagnostic: it does not compute AUROC, but records the mean RM⁺, RM⁻, RF⁺, RF⁻ values for ID and OOD.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5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During Training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FastDepth (MobileNetV2 + NNConv5)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27448" y="1188720"/>
            <a:ext cx="3959352" cy="384048"/>
          </a:xfrm>
          <a:prstGeom prst="roundRect">
            <a:avLst>
              <a:gd name="adj" fmla="val 14286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27448" y="1188720"/>
            <a:ext cx="3959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(MobileViT / Transformer + Conv Decoder)</a:t>
            </a:r>
            <a:endParaRPr lang="en-US" sz="1200" dirty="0"/>
          </a:p>
        </p:txBody>
      </p:sp>
      <p:pic>
        <p:nvPicPr>
          <p:cNvPr id="8" name="Image 0" descr="chart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27632"/>
            <a:ext cx="3959352" cy="1828800"/>
          </a:xfrm>
          <a:prstGeom prst="rect">
            <a:avLst/>
          </a:prstGeom>
        </p:spPr>
      </p:pic>
      <p:pic>
        <p:nvPicPr>
          <p:cNvPr id="9" name="Image 1" descr="chart-0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627632"/>
            <a:ext cx="3959352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81F29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3703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639312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behavior on NYU Depth V2 (40 epochs, BerHu loss, OneCycleLR):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Fast, stable convergence: both models reach a plateau within the first 15–20 epochs, settling at a final loss of ~0.218 (FastDepth) and ~0.259 (METER).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BerHu stability: combining L1 for small errors with adaptive L2 for large errors avoids gradient oscillations and produces well-calibrated dense predictions.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OOD Detection: FastDepth vs METER</a:t>
            </a:r>
            <a:endParaRPr lang="en-US" sz="2800" dirty="0"/>
          </a:p>
        </p:txBody>
      </p:sp>
      <p:pic>
        <p:nvPicPr>
          <p:cNvPr id="4" name="Image 0" descr="chart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959352" cy="2212848"/>
          </a:xfrm>
          <a:prstGeom prst="rect">
            <a:avLst/>
          </a:prstGeom>
        </p:spPr>
      </p:pic>
      <p:pic>
        <p:nvPicPr>
          <p:cNvPr id="5" name="Image 1" descr="chart-00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051560"/>
            <a:ext cx="3959352" cy="22128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401568"/>
            <a:ext cx="8229600" cy="1481328"/>
          </a:xfrm>
          <a:prstGeom prst="roundRect">
            <a:avLst>
              <a:gd name="adj" fmla="val 3704"/>
            </a:avLst>
          </a:prstGeom>
          <a:solidFill>
            <a:srgbClr val="181F29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31520" y="3538728"/>
            <a:ext cx="7680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493008"/>
            <a:ext cx="7772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6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ID: NYU Depth V2 (290 test) vs OOD: KITTI Depth Completion (1000 test)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FastDepth: AUROC = 0.959 · FPR95 = 10.3% · Calibrated threshold (TNR95 val) = −5.35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METER: AUROC = 0.995 · FPR95 = 2.1% · Calibrated threshold (TNR95 val) = −6.75
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bimodal separation in both models. The hybrid CNN-transformer METER cuts FPR95 to a fifth compared to FastDepth, achieving near-perfect OOD discrimination (AUROC 0.995).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Per-Layer Profile and U-Shaped Trend</a:t>
            </a:r>
            <a:endParaRPr lang="en-US" sz="2800" dirty="0"/>
          </a:p>
        </p:txBody>
      </p:sp>
      <p:pic>
        <p:nvPicPr>
          <p:cNvPr id="4" name="Image 0" descr="chart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959352" cy="1984248"/>
          </a:xfrm>
          <a:prstGeom prst="rect">
            <a:avLst/>
          </a:prstGeom>
        </p:spPr>
      </p:pic>
      <p:pic>
        <p:nvPicPr>
          <p:cNvPr id="5" name="Image 1" descr="chart-0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143000"/>
            <a:ext cx="3959352" cy="19842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246120"/>
            <a:ext cx="8229600" cy="1783080"/>
          </a:xfrm>
          <a:prstGeom prst="roundRect">
            <a:avLst>
              <a:gd name="adj" fmla="val 3077"/>
            </a:avLst>
          </a:prstGeom>
          <a:solidFill>
            <a:srgbClr val="EEF3F7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3337560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Per-layer AUROC analysis (Blue = Encoder E0–E4, Orange = Decoder D1–D5):
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U-shaped trend: strong discrimination in the early layers (E0–E2, AUROC &gt; 0.87–0.99) tied to low-level visual features (Kinect vs outdoor LiDAR sensor statistics).
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Bottleneck (E4): in FastDepth, AUROC collapses to 0.510 (chance level), while in METER the transformer blocks preserve a solid 0.757 thanks to global attention across patches.
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 in the Decoder (D1–D5): discriminative power grows monotonically as the depth map is reconstructed, reaching 0.974 in FastDepth and 100% (1.000) in METER on D5.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EXPERIMENTAL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Layer Groups and CORES Components</a:t>
            </a:r>
            <a:endParaRPr lang="en-US" sz="2800" dirty="0"/>
          </a:p>
        </p:txBody>
      </p:sp>
      <p:pic>
        <p:nvPicPr>
          <p:cNvPr id="4" name="Image 0" descr="chart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1527048"/>
          </a:xfrm>
          <a:prstGeom prst="rect">
            <a:avLst/>
          </a:prstGeom>
        </p:spPr>
      </p:pic>
      <p:pic>
        <p:nvPicPr>
          <p:cNvPr id="5" name="Image 1" descr="chart-00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152704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8346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EF3F7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58368" y="296265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Decoder-Only Beats All Layers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58368" y="3346704"/>
            <a:ext cx="36210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METER: Decoder-only reaches AUROC 0.9908 and FPR95 3.79%, surpassing the Encoder+Decoder combination (AUROC 0.9773, FPR95 7.93%).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trend in FastDepth: Decoder-only (0.9525, FPR 9.3%) beats All (0.9430, FPR 16.5%). The encoder's deep layers “pollute” the averaged score.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63440" y="2834640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EEF3F7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64608" y="2962656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RF+ Saturation and RM+ Dominance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864608" y="3346704"/>
            <a:ext cx="3621024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RF+ saturation: activation frequency (RF+) is 1.0 for both ID and OOD across all monitored layers; it offers no discriminative power.</a:t>
            </a:r>
            <a:endParaRPr lang="en-US" sz="10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driven by RM+: the entire OOD score is carried by magnitude (RM+), which in the decoder's final layers registers much stronger ID responses (7.3 vs 4.7 on D4).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8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FINAL RESULTS &amp; CONCLUSIONS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and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Effectiveness of CORES on Dense Prediction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476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convolutional responses are sufficient to discriminate ID and OOD data even without logits or classes (AUROC &gt; 0.95 in both models), confirming the initial research hypothesis.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83480" y="13990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CNN vs. Hybrid Transformer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94767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outperforms FastDepth on every metric (AUROC 0.995 vs 0.959, FPR95 2.1% vs 10.3%). The transformer blocks prevent the specificity collapse at the bottleneck (0.757 vs 0.510).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319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Optimization: Monitor the Decoder Only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8679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 monitoring to the decoder improves discrimination (removes false alarms from intermediate layers) and halves the number of taps and the compute overhead — ideal for embedded/real-time deployment.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15468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33192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Future Work and Open Limitations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86791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A4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backtracking through the additive skip connections to involve the encoder, and investigate transformer attention as a natural channel selector for the OOD score.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2026-10-04T11:18:55Z</dcterms:created>
  <dcterms:modified xsi:type="dcterms:W3CDTF">2026-10-04T11:18:55Z</dcterms:modified>
</cp:coreProperties>
</file>